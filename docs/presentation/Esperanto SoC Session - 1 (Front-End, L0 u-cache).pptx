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Arv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jSxjkJEf6QKdMiIRy5WEswUBY9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ABC6C9-8AE4-4568-BD32-BE72E556F334}">
  <a:tblStyle styleId="{93ABC6C9-8AE4-4568-BD32-BE72E556F33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Arvo-bold.fntdata"/><Relationship Id="rId52" Type="http://schemas.openxmlformats.org/officeDocument/2006/relationships/font" Target="fonts/Arvo-regular.fntdata"/><Relationship Id="rId11" Type="http://schemas.openxmlformats.org/officeDocument/2006/relationships/slide" Target="slides/slide5.xml"/><Relationship Id="rId55" Type="http://schemas.openxmlformats.org/officeDocument/2006/relationships/font" Target="fonts/Arvo-boldItalic.fntdata"/><Relationship Id="rId10" Type="http://schemas.openxmlformats.org/officeDocument/2006/relationships/slide" Target="slides/slide4.xml"/><Relationship Id="rId54" Type="http://schemas.openxmlformats.org/officeDocument/2006/relationships/font" Target="fonts/Arv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4e983f5e5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4e983f5e5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4e983f5e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4e983f5e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4e983f5e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4e983f5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d6e21916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5d6e2191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d6e2191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5d6e2191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4e983f5e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f4e983f5e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4e983f5e5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4e983f5e5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4e983f5e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4e983f5e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4e983f5e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4e983f5e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4e983f5e5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4e983f5e5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d6e2191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5d6e2191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d6e2191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5d6e2191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5d6e2191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5d6e2191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d6e2191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5d6e219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5d6e2191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5d6e2191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5d6e2191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5d6e2191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f0c23a2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5f0c23a2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5d6e2191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f5d6e2191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5f5baf0a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f5f5baf0a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f5baf0a6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f5f5baf0a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5d6e2191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5d6e2191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d6e2191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5d6e2191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5f5baf0a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f5f5baf0a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f5baf0a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f5f5baf0a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5f5baf0a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f5f5baf0a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4e983f5e5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4e983f5e5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5f77c27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f5f77c27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5f5baf0a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f5f5baf0a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5f5baf0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f5f5baf0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5f5baf0a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f5f5baf0a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5f0c23a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f5f0c23a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5f0c23a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f5f0c23a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f0c23a2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5f0c23a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5f0c23a2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f5f0c23a2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5f0c23a2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f5f0c23a2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5f0c23a2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f5f0c23a2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5f0c23a2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f5f0c23a2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5f0c23a2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f5f0c23a2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5f0c23a2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f5f0c23a2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5f0c23a2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f5f0c23a2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5f0c23a2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f5f0c23a2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f0c23a2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5f0c23a2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5f0c23a2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f5f0c23a2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5f0c23a2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f5f0c23a2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type="title"/>
          </p:nvPr>
        </p:nvSpPr>
        <p:spPr>
          <a:xfrm>
            <a:off x="4598900" y="773100"/>
            <a:ext cx="38880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" name="Google Shape;11;p49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  <a:defRPr b="0" i="0" sz="1200" u="none" cap="none" strike="noStrik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49"/>
          <p:cNvSpPr/>
          <p:nvPr/>
        </p:nvSpPr>
        <p:spPr>
          <a:xfrm>
            <a:off x="0" y="0"/>
            <a:ext cx="4259700" cy="5143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49"/>
          <p:cNvSpPr txBox="1"/>
          <p:nvPr>
            <p:ph idx="1" type="subTitle"/>
          </p:nvPr>
        </p:nvSpPr>
        <p:spPr>
          <a:xfrm>
            <a:off x="4598900" y="2968204"/>
            <a:ext cx="2920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14" name="Google Shape;14;p49"/>
          <p:cNvCxnSpPr/>
          <p:nvPr/>
        </p:nvCxnSpPr>
        <p:spPr>
          <a:xfrm>
            <a:off x="4778200" y="2780625"/>
            <a:ext cx="6762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, company name&#10;&#10;Description automatically generated" id="15" name="Google Shape;15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5484" y="416250"/>
            <a:ext cx="501568" cy="501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rame  1">
  <p:cSld name="Title with frame  1">
    <p:bg>
      <p:bgPr>
        <a:solidFill>
          <a:schemeClr val="accen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0"/>
          <p:cNvSpPr/>
          <p:nvPr/>
        </p:nvSpPr>
        <p:spPr>
          <a:xfrm>
            <a:off x="259094" y="276783"/>
            <a:ext cx="8640000" cy="46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0"/>
          <p:cNvSpPr txBox="1"/>
          <p:nvPr>
            <p:ph idx="12" type="sldNum"/>
          </p:nvPr>
        </p:nvSpPr>
        <p:spPr>
          <a:xfrm>
            <a:off x="8662958" y="46060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50"/>
          <p:cNvSpPr txBox="1"/>
          <p:nvPr>
            <p:ph type="title"/>
          </p:nvPr>
        </p:nvSpPr>
        <p:spPr>
          <a:xfrm>
            <a:off x="783525" y="621500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/>
        </p:txBody>
      </p:sp>
      <p:sp>
        <p:nvSpPr>
          <p:cNvPr id="20" name="Google Shape;20;p50"/>
          <p:cNvSpPr txBox="1"/>
          <p:nvPr>
            <p:ph idx="1" type="body"/>
          </p:nvPr>
        </p:nvSpPr>
        <p:spPr>
          <a:xfrm>
            <a:off x="649275" y="125849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descr="Logo, company name&#10;&#10;Description automatically generated" id="21" name="Google Shape;21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5484" y="416250"/>
            <a:ext cx="501568" cy="501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" name="Google Shape;24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" name="Google Shape;2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5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p6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frame">
  <p:cSld name="White frame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2"/>
          <p:cNvSpPr/>
          <p:nvPr/>
        </p:nvSpPr>
        <p:spPr>
          <a:xfrm>
            <a:off x="260667" y="269967"/>
            <a:ext cx="8640000" cy="46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65" name="Google Shape;65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5484" y="416250"/>
            <a:ext cx="501568" cy="5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2"/>
          <p:cNvSpPr txBox="1"/>
          <p:nvPr>
            <p:ph idx="12" type="sldNum"/>
          </p:nvPr>
        </p:nvSpPr>
        <p:spPr>
          <a:xfrm>
            <a:off x="8605808" y="44917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vo"/>
              <a:buNone/>
              <a:defRPr b="0" i="0" sz="12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github.com/aifoundry-org/et-man" TargetMode="External"/><Relationship Id="rId4" Type="http://schemas.openxmlformats.org/officeDocument/2006/relationships/hyperlink" Target="http://www.github.com/openhwgroup/core-et/tree/erbium" TargetMode="External"/><Relationship Id="rId5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title"/>
          </p:nvPr>
        </p:nvSpPr>
        <p:spPr>
          <a:xfrm>
            <a:off x="4710200" y="1742550"/>
            <a:ext cx="2858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Esperanto SoC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Session - I</a:t>
            </a:r>
            <a:endParaRPr/>
          </a:p>
        </p:txBody>
      </p:sp>
      <p:sp>
        <p:nvSpPr>
          <p:cNvPr id="72" name="Google Shape;72;p1"/>
          <p:cNvSpPr txBox="1"/>
          <p:nvPr>
            <p:ph idx="1" type="subTitle"/>
          </p:nvPr>
        </p:nvSpPr>
        <p:spPr>
          <a:xfrm>
            <a:off x="4710200" y="2871575"/>
            <a:ext cx="36663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800"/>
              <a:t>Developer: Ryan Naveed</a:t>
            </a:r>
            <a:endParaRPr sz="1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800"/>
              <a:t>Dated:        July 30th, 2026</a:t>
            </a:r>
            <a:endParaRPr sz="1800"/>
          </a:p>
        </p:txBody>
      </p:sp>
      <p:sp>
        <p:nvSpPr>
          <p:cNvPr id="73" name="Google Shape;73;p1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v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4e983f5e5_2_98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Esperanto Core-ET SoC</a:t>
            </a:r>
            <a:endParaRPr/>
          </a:p>
        </p:txBody>
      </p:sp>
      <p:sp>
        <p:nvSpPr>
          <p:cNvPr id="79" name="Google Shape;79;g3f4e983f5e5_2_98"/>
          <p:cNvSpPr txBox="1"/>
          <p:nvPr/>
        </p:nvSpPr>
        <p:spPr>
          <a:xfrm>
            <a:off x="972125" y="1392875"/>
            <a:ext cx="4723500" cy="30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Open-source manycore platform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by Esperanto Technologies, specifically for ML and AI computes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Acquired on November 2025 by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AiNekko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Open-sourced it under the AI Foundry and OpenHW umbrella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Architectural Docs: </a:t>
            </a: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Core-ET manuals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RTL Code: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Core-ET RTL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f4e983f5e5_2_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5625" y="1392875"/>
            <a:ext cx="2685450" cy="266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4e983f5e5_0_41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Core SoC and IO Overview</a:t>
            </a:r>
            <a:endParaRPr/>
          </a:p>
        </p:txBody>
      </p:sp>
      <p:sp>
        <p:nvSpPr>
          <p:cNvPr id="86" name="Google Shape;86;g3f4e983f5e5_0_41"/>
          <p:cNvSpPr txBox="1"/>
          <p:nvPr/>
        </p:nvSpPr>
        <p:spPr>
          <a:xfrm>
            <a:off x="963350" y="1296675"/>
            <a:ext cx="57399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1,093 total RV64 RISC-V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1,088 In-Order cores (Minions) for ML computes 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(1024 cores for processing, 32 cores for task division, and the remaining 32 cores for consistent silicon yield)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Out-of-Order cores (Maxions) for management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dedicated RISC-V service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IOShire subsystem integrating UART, SPI, I2c, I3C, USB, and other peripheral controllers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PCIe Shire handling an 8-lane Gen4 physical layer with two dual-mode controllers.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f4e983f5e5_0_41" title="images (1)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8150" y="1156725"/>
            <a:ext cx="1750600" cy="17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f4e983f5e5_0_41" title="images__2_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6800" y="3104150"/>
            <a:ext cx="1064327" cy="14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4e983f5e5_0_75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ET-Minion Core Architecture</a:t>
            </a:r>
            <a:endParaRPr/>
          </a:p>
        </p:txBody>
      </p:sp>
      <p:sp>
        <p:nvSpPr>
          <p:cNvPr id="94" name="Google Shape;94;g3f4e983f5e5_0_75"/>
          <p:cNvSpPr txBox="1"/>
          <p:nvPr/>
        </p:nvSpPr>
        <p:spPr>
          <a:xfrm>
            <a:off x="875550" y="1383950"/>
            <a:ext cx="37617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RISC-V In-Order Processor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RV64IMFC ISA Extensions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 Hardware Threads per Core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Single-Issue Integer Execution Pipeline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4 KB L1 Data Cache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Integrated 8-Lane SIMD Vector Processing Unit (VPU)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Esperanto SIMD extension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g3f4e983f5e5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3275" y="1200225"/>
            <a:ext cx="3293974" cy="339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d6e21916_0_192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L1 -  Data Cache Configuration</a:t>
            </a:r>
            <a:endParaRPr/>
          </a:p>
        </p:txBody>
      </p:sp>
      <p:sp>
        <p:nvSpPr>
          <p:cNvPr id="101" name="Google Shape;101;g3f5d6e21916_0_192"/>
          <p:cNvSpPr txBox="1"/>
          <p:nvPr/>
        </p:nvSpPr>
        <p:spPr>
          <a:xfrm>
            <a:off x="934500" y="1199675"/>
            <a:ext cx="3968700" cy="3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4KB set-associative cache size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sets, 4 ways, 64-bytes cache lines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Non-coherent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 through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mcache_control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CSR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Configurable modes: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3f5d6e21916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4425" y="1199675"/>
            <a:ext cx="3293974" cy="339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f5d6e21916_0_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021" y="3387321"/>
            <a:ext cx="3913150" cy="10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5d6e21916_0_199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Vector Processing Unit (VPU)</a:t>
            </a:r>
            <a:endParaRPr/>
          </a:p>
        </p:txBody>
      </p:sp>
      <p:sp>
        <p:nvSpPr>
          <p:cNvPr id="109" name="Google Shape;109;g3f5d6e21916_0_199"/>
          <p:cNvSpPr txBox="1"/>
          <p:nvPr/>
        </p:nvSpPr>
        <p:spPr>
          <a:xfrm>
            <a:off x="875400" y="1335950"/>
            <a:ext cx="36966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identical Synchronous Lanes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x 256-bit Vector Registers (per thread)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TxFMA Unit –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one 32-bit or two 16-bit floating-point fused multiply-add operations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 IMA Units –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Performs four 8-bit integer multiple-accumulate (MAC) operations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Unit –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Integer arithmetic and logical operations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 Unit –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Exp2, Log2 and Reciprocal operations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f5d6e21916_0_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3275" y="1200225"/>
            <a:ext cx="3293974" cy="339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4e983f5e5_0_54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Minion Neighborhood Overview</a:t>
            </a:r>
            <a:endParaRPr/>
          </a:p>
        </p:txBody>
      </p:sp>
      <p:sp>
        <p:nvSpPr>
          <p:cNvPr id="116" name="Google Shape;116;g3f4e983f5e5_0_54"/>
          <p:cNvSpPr txBox="1"/>
          <p:nvPr/>
        </p:nvSpPr>
        <p:spPr>
          <a:xfrm>
            <a:off x="1042075" y="1191725"/>
            <a:ext cx="5361900" cy="1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of 8-Minion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 KB shared L1 instruction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Dual shared L0 microcaches and PTW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f4e983f5e5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825" y="2738788"/>
            <a:ext cx="62484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f4e983f5e5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475" y="2405550"/>
            <a:ext cx="6882875" cy="22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4e983f5e5_2_40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Minion Shire Hierarchy</a:t>
            </a:r>
            <a:endParaRPr/>
          </a:p>
        </p:txBody>
      </p:sp>
      <p:pic>
        <p:nvPicPr>
          <p:cNvPr id="124" name="Google Shape;124;g3f4e983f5e5_2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950" y="1160500"/>
            <a:ext cx="5717800" cy="328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4e983f5e5_0_60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Minion Shire Overview</a:t>
            </a:r>
            <a:endParaRPr/>
          </a:p>
        </p:txBody>
      </p:sp>
      <p:sp>
        <p:nvSpPr>
          <p:cNvPr id="130" name="Google Shape;130;g3f4e983f5e5_0_60"/>
          <p:cNvSpPr txBox="1"/>
          <p:nvPr/>
        </p:nvSpPr>
        <p:spPr>
          <a:xfrm>
            <a:off x="692925" y="1637850"/>
            <a:ext cx="38790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of 32-Minion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 interconnected Neighborhoods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4MB shared Shire Cache (L2/L3)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4×4 crossbar for Neighborhood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f4e983f5e5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2053" y="1240825"/>
            <a:ext cx="3783301" cy="28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4e983f5e5_0_67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Mesh Network-on-Chip (NoC)</a:t>
            </a:r>
            <a:endParaRPr/>
          </a:p>
        </p:txBody>
      </p:sp>
      <p:pic>
        <p:nvPicPr>
          <p:cNvPr id="137" name="Google Shape;137;g3f4e983f5e5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7525" y="1340175"/>
            <a:ext cx="5753600" cy="258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4e983f5e5_0_67"/>
          <p:cNvSpPr txBox="1"/>
          <p:nvPr/>
        </p:nvSpPr>
        <p:spPr>
          <a:xfrm>
            <a:off x="753100" y="1445150"/>
            <a:ext cx="17409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Top-level 8x6 grid interconnect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44-Mesh stops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Corner mesh stops are unoccupied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4e983f5e5_2_106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Minion Architectural Diagram</a:t>
            </a:r>
            <a:endParaRPr/>
          </a:p>
        </p:txBody>
      </p:sp>
      <p:pic>
        <p:nvPicPr>
          <p:cNvPr id="144" name="Google Shape;144;g3f4e983f5e5_2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3738" y="1233875"/>
            <a:ext cx="3912375" cy="34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4e983f5e5_2_106"/>
          <p:cNvSpPr/>
          <p:nvPr/>
        </p:nvSpPr>
        <p:spPr>
          <a:xfrm>
            <a:off x="4363172" y="1863012"/>
            <a:ext cx="1487400" cy="6897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f4e983f5e5_2_106"/>
          <p:cNvCxnSpPr/>
          <p:nvPr/>
        </p:nvCxnSpPr>
        <p:spPr>
          <a:xfrm flipH="1">
            <a:off x="5850322" y="2029212"/>
            <a:ext cx="1122000" cy="108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g3f4e983f5e5_2_106"/>
          <p:cNvSpPr txBox="1"/>
          <p:nvPr/>
        </p:nvSpPr>
        <p:spPr>
          <a:xfrm>
            <a:off x="6249397" y="1530612"/>
            <a:ext cx="2343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Front-End Unit for fetching and decoding instructions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5d6e21916_0_4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FrontEnd Unit Internal Blocks</a:t>
            </a:r>
            <a:endParaRPr sz="2300"/>
          </a:p>
        </p:txBody>
      </p:sp>
      <p:sp>
        <p:nvSpPr>
          <p:cNvPr id="153" name="Google Shape;153;g3f5d6e21916_0_4"/>
          <p:cNvSpPr txBox="1"/>
          <p:nvPr/>
        </p:nvSpPr>
        <p:spPr>
          <a:xfrm>
            <a:off x="913300" y="1032300"/>
            <a:ext cx="3117600" cy="3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Front-End Buffer x 2: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Buffer to cache instructions from L0 u-cache.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857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Counter x 2: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Separate PC for each thread (instantiated in FE Buffer).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 Scheduler: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Schedules the thread to select the instruction to be passed to the next module (INTPIPE).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IntPipe Decoder: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decodes the read instruction for the INTPIPE module.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VPU Decoder: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decodes the read instruction for the VPU module.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FIFO x 2: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FIFO is used to store both INTPIPE and VPU decoded signals, useful when an instruction gets fetched from the buffer during the pipeline stall.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f5d6e21916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5550" y="976075"/>
            <a:ext cx="4808301" cy="3906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d6e21916_0_117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FrontEnd I-Cache Communication Interface Diagram</a:t>
            </a:r>
            <a:endParaRPr sz="2300"/>
          </a:p>
        </p:txBody>
      </p:sp>
      <p:pic>
        <p:nvPicPr>
          <p:cNvPr id="160" name="Google Shape;160;g3f5d6e21916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0800" y="1048025"/>
            <a:ext cx="5382400" cy="36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5d6e21916_0_9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Thread FrontEnd Buffer</a:t>
            </a:r>
            <a:endParaRPr sz="2300"/>
          </a:p>
        </p:txBody>
      </p:sp>
      <p:sp>
        <p:nvSpPr>
          <p:cNvPr id="166" name="Google Shape;166;g3f5d6e21916_0_9"/>
          <p:cNvSpPr txBox="1"/>
          <p:nvPr/>
        </p:nvSpPr>
        <p:spPr>
          <a:xfrm>
            <a:off x="762900" y="1160450"/>
            <a:ext cx="4556400" cy="3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thread has its own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 buffer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containing two entries each of width 256 bits.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entry is filled with instructions at consecutive addresses.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read data width from the I-cache is 32 bytes (256 bits or half a cache line).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Dedicated Program Counter (PC) in each FE Buffer, tracks the next instruction to be executed for that thread.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whole buffer gets invalidated upon receiving a new PC address from the INTPIPE, due to branch/jump instruction.In this case no instructions would get fetched until we received a valid response from L0 u-cache.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Optimizations to be made: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Rather than invalidating the buffer directly, we should first determine whether the buffer contains the instructions pointing to the new address.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f5d6e21916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575" y="1477250"/>
            <a:ext cx="1994575" cy="248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d6e21916_0_15"/>
          <p:cNvSpPr txBox="1"/>
          <p:nvPr/>
        </p:nvSpPr>
        <p:spPr>
          <a:xfrm>
            <a:off x="821250" y="1143800"/>
            <a:ext cx="45564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buffer entry can hold eight general instructions or sixteen compressed instructions.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buffer_ptr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reads instructions from the FE Buffer. The MSB selects the buffer entry, and the lower four bits point to a compressed instruction.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buffer_ptr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is derived from the Thread PC located in this FrontEnd Buffer. The bits (5:1) are copied in this pointer.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fetched instruction is of 32 bits.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instruction retrieved from the address is always of size: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buffer_ptr = (Instruction[1:0] == 2'b11)?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buffer_ptr + 2 : buffer_ptr + 1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5d6e21916_0_15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FrontEnd Buffer Instruction Fetch</a:t>
            </a:r>
            <a:endParaRPr sz="2300"/>
          </a:p>
        </p:txBody>
      </p:sp>
      <p:pic>
        <p:nvPicPr>
          <p:cNvPr id="174" name="Google Shape;174;g3f5d6e21916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9300" y="1559325"/>
            <a:ext cx="3519899" cy="1856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f5d6e21916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9897" y="3528000"/>
            <a:ext cx="2341199" cy="8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5d6e21916_0_22"/>
          <p:cNvSpPr txBox="1"/>
          <p:nvPr/>
        </p:nvSpPr>
        <p:spPr>
          <a:xfrm>
            <a:off x="896275" y="1077100"/>
            <a:ext cx="42732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entry got cleared/invalidated in 4 cases, and a new fetch request gets generated for that entry.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INTPIPE sends a new PC address in case of branch/jump or interrupts/exceptions.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ends with 5’h1C (decimal 28), and the instruction is not compressed.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ends with 5’h1E (decimal 30), and the instruction is compressed.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ends with 5’h1E (decimal 30), and the instruction is not compressed, and the next entry is valid.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executing instructions from one entry, if the other is empty or invalid, generate a request in parallel to retrieve the next consecutive instructions in that entry.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5d6e21916_0_22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FrontEnd Buffer Entry Invalidation</a:t>
            </a:r>
            <a:endParaRPr sz="2300"/>
          </a:p>
        </p:txBody>
      </p:sp>
      <p:pic>
        <p:nvPicPr>
          <p:cNvPr id="182" name="Google Shape;182;g3f5d6e21916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9300" y="1717725"/>
            <a:ext cx="3519899" cy="1856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f5d6e21916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9897" y="3728100"/>
            <a:ext cx="2341199" cy="8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5d6e21916_0_29"/>
          <p:cNvSpPr txBox="1"/>
          <p:nvPr/>
        </p:nvSpPr>
        <p:spPr>
          <a:xfrm>
            <a:off x="896275" y="1077100"/>
            <a:ext cx="58902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 , n]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the address of the next 8 instructions in the corresponding buffer entry. The following mechanism is used to fill the buffer entries.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Shire enables the minion and provides a starting address “A”.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Address A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 sent to I-Cache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Address {A &amp; ~0x1F}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A&gt;&gt;5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creates a new request since there is a free entry.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Address {(A &amp; ~0x1F) + 32}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A&gt;&gt;5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(A&gt;&gt;5)+1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entry is invalidated (for non-RVC Instruction) upon reading the final instruction from the first entry PC ({(A &amp; ~0x1F) + 28}).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 first entry is removed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 [ 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(A&gt;&gt;5)+1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 startAt="5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creates a new request to I-Cache since there is once more a free entry.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Address {(A &amp; ~0x1F) + 64}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(A&gt;&gt;5)+2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(A&gt;&gt;5)+1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5d6e21916_0_29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Buffer Entry Fill Example</a:t>
            </a:r>
            <a:endParaRPr sz="2300"/>
          </a:p>
        </p:txBody>
      </p:sp>
      <p:sp>
        <p:nvSpPr>
          <p:cNvPr id="190" name="Google Shape;190;g3f5d6e21916_0_29"/>
          <p:cNvSpPr txBox="1"/>
          <p:nvPr/>
        </p:nvSpPr>
        <p:spPr>
          <a:xfrm>
            <a:off x="8687275" y="12771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f0c23a24_0_135"/>
          <p:cNvSpPr txBox="1"/>
          <p:nvPr/>
        </p:nvSpPr>
        <p:spPr>
          <a:xfrm>
            <a:off x="896275" y="1077100"/>
            <a:ext cx="58902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 , n]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the address of the next 8 instructions in the corresponding buffer entry. The following mechanism is used to fill the buffer entries.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Shire enables the minion and provides a starting address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Address A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 sent to I-Cache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Address {A &amp; ~0x1F}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A&gt;&gt;5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creates a new request since there is a free entry.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Address {(A &amp; ~0x1F) + 32}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A&gt;&gt;5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(A&gt;&gt;5)+1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entry is invalidated (for non-RVC Instruction) upon reading the final instruction from the first entry PC ({(A &amp; ~0x1F) + 28}).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 first entry is removed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  [ </a:t>
            </a: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(A&gt;&gt;5)+1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 startAt="5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creates a new request to I-Cache since there is once more a free entry.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Address {(A &amp; ~0x1F) + 64}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(A&gt;&gt;5)+2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(A&gt;&gt;5)+1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400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5f0c23a24_0_135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Buffer Entry Fill Example</a:t>
            </a:r>
            <a:endParaRPr sz="2300"/>
          </a:p>
        </p:txBody>
      </p:sp>
      <p:sp>
        <p:nvSpPr>
          <p:cNvPr id="197" name="Google Shape;197;g3f5f0c23a24_0_135"/>
          <p:cNvSpPr txBox="1"/>
          <p:nvPr/>
        </p:nvSpPr>
        <p:spPr>
          <a:xfrm>
            <a:off x="7103375" y="3327900"/>
            <a:ext cx="1850700" cy="13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Live-Lock: </a:t>
            </a:r>
            <a:r>
              <a:rPr b="0" i="0" lang="en" sz="11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 single instruction infinite loop where the instruction is the last one in the cache line and the jump is repeatedly mispredicted.</a:t>
            </a:r>
            <a:endParaRPr b="0" i="0" sz="1700" u="none" cap="none" strike="noStrike">
              <a:solidFill>
                <a:srgbClr val="B7B7B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8" name="Google Shape;198;g3f5f0c23a24_0_135" title="lo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1875" y="2690125"/>
            <a:ext cx="637775" cy="63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f5f0c23a24_0_135"/>
          <p:cNvSpPr txBox="1"/>
          <p:nvPr/>
        </p:nvSpPr>
        <p:spPr>
          <a:xfrm>
            <a:off x="8687275" y="12771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d6e21916_0_37"/>
          <p:cNvSpPr txBox="1"/>
          <p:nvPr>
            <p:ph type="title"/>
          </p:nvPr>
        </p:nvSpPr>
        <p:spPr>
          <a:xfrm>
            <a:off x="692925" y="535250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/>
              <a:t>FrontEnd Stages (8 Stages, F0 .. F7)</a:t>
            </a:r>
            <a:endParaRPr sz="2600"/>
          </a:p>
        </p:txBody>
      </p:sp>
      <p:sp>
        <p:nvSpPr>
          <p:cNvPr id="205" name="Google Shape;205;g3f5d6e21916_0_37"/>
          <p:cNvSpPr txBox="1"/>
          <p:nvPr/>
        </p:nvSpPr>
        <p:spPr>
          <a:xfrm>
            <a:off x="1059575" y="1193825"/>
            <a:ext cx="52728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F0 Stage: 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Handler for INTPIPE request and Thread enable/disable. I-cache requests are generated based on the INTPIPE_PC or THREAD_PC.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F1–F5 Stage: 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Wait 5 cycles to receive a response from L0 u-cache.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F6 Stage: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the I-cache response in FrontEnd buffer.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instructions from the FrontEnd buffer.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F7 Stage: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Scheduling of Threads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INTPIPE and VPU decoder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Read/Write instruction control signals FIFOs.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f5baf0a6_0_3"/>
          <p:cNvSpPr txBox="1"/>
          <p:nvPr>
            <p:ph type="title"/>
          </p:nvPr>
        </p:nvSpPr>
        <p:spPr>
          <a:xfrm>
            <a:off x="692925" y="535250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/>
              <a:t>FrontEnd Stages (8 Stages, F0 .. F7)</a:t>
            </a:r>
            <a:endParaRPr sz="2600"/>
          </a:p>
        </p:txBody>
      </p:sp>
      <p:pic>
        <p:nvPicPr>
          <p:cNvPr id="211" name="Google Shape;211;g3f5f5baf0a6_0_3" title="Esperanto-FE TH Buffer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000" y="1025675"/>
            <a:ext cx="6300058" cy="39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5f5baf0a6_0_151"/>
          <p:cNvSpPr txBox="1"/>
          <p:nvPr>
            <p:ph type="title"/>
          </p:nvPr>
        </p:nvSpPr>
        <p:spPr>
          <a:xfrm>
            <a:off x="692925" y="535250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/>
              <a:t>FrontEnd Last Stage (Instruction Decode)</a:t>
            </a:r>
            <a:endParaRPr sz="2600"/>
          </a:p>
        </p:txBody>
      </p:sp>
      <p:pic>
        <p:nvPicPr>
          <p:cNvPr id="217" name="Google Shape;217;g3f5f5baf0a6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0575" y="984400"/>
            <a:ext cx="4808301" cy="3906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5d6e21916_0_105"/>
          <p:cNvSpPr txBox="1"/>
          <p:nvPr/>
        </p:nvSpPr>
        <p:spPr>
          <a:xfrm>
            <a:off x="1067900" y="1093775"/>
            <a:ext cx="2527500" cy="3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scheduling is done using the Round-Robin algorithm.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only one thread is valid, select it; if both are valid, pass the thread that wasn't selected in the previous cycle.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thread's state is marked VALID when an instruction is read from its PC, there’s no new request from INTPIPE, and its FIFO has space.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5d6e21916_0_105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FrontEnd Thread Scheduler RTL</a:t>
            </a:r>
            <a:endParaRPr/>
          </a:p>
        </p:txBody>
      </p:sp>
      <p:pic>
        <p:nvPicPr>
          <p:cNvPr id="224" name="Google Shape;224;g3f5d6e21916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300" y="1060425"/>
            <a:ext cx="4583375" cy="363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5d6e21916_0_111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FrontEnd I-Cache Communication Interface</a:t>
            </a:r>
            <a:endParaRPr sz="2300"/>
          </a:p>
        </p:txBody>
      </p:sp>
      <p:pic>
        <p:nvPicPr>
          <p:cNvPr id="230" name="Google Shape;230;g3f5d6e21916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050" y="1515075"/>
            <a:ext cx="3776900" cy="25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5d6e21916_0_111"/>
          <p:cNvSpPr txBox="1"/>
          <p:nvPr/>
        </p:nvSpPr>
        <p:spPr>
          <a:xfrm>
            <a:off x="762900" y="1160450"/>
            <a:ext cx="3951300" cy="3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the FrontEnd thread buffer requests reaches the L0 u-cache via the LRU arbiter.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5 cycles, the FrontEnd receives the response in both cases of HIT and MISS.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HIT case, the response contains instructions to be stored in the corresponding FrontEnd buffer, and the transaction is complete.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MISS responses, the corresponding requesting thread is put to sleep, and L0 sends a fetch request to the L1 cache. Once the L1 cache responds, a "fill done" signal is sent to all minions, allowing them to wake up and retry again.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LRU arbiter only updates the priority on the cache HIT, allowing the miss thread to retry with a higher priority when it is woken up.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5f5baf0a6_0_157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FrontEnd Issues 1 - Unnecessary Buffer Flush</a:t>
            </a:r>
            <a:endParaRPr sz="2300"/>
          </a:p>
        </p:txBody>
      </p:sp>
      <p:pic>
        <p:nvPicPr>
          <p:cNvPr id="237" name="Google Shape;237;g3f5f5baf0a6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750" y="1214875"/>
            <a:ext cx="4425850" cy="31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5f5baf0a6_0_157"/>
          <p:cNvSpPr txBox="1"/>
          <p:nvPr/>
        </p:nvSpPr>
        <p:spPr>
          <a:xfrm>
            <a:off x="3673500" y="1173350"/>
            <a:ext cx="4578300" cy="329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5f5baf0a6_0_157"/>
          <p:cNvSpPr txBox="1"/>
          <p:nvPr/>
        </p:nvSpPr>
        <p:spPr>
          <a:xfrm>
            <a:off x="997875" y="1360250"/>
            <a:ext cx="25677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take a backward branch for this matrix multiplication code after each Multiply the operation of accumulation.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Although the prior instruction might still be accessible and might not need to be flushed for each Branch/Jump instruction, this would flush out both Buffer entries containing the instructions.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f5baf0a6_0_169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/>
              <a:t>FrontEnd Issue 2 - Unnecessary utilization of req line</a:t>
            </a:r>
            <a:endParaRPr sz="2100"/>
          </a:p>
        </p:txBody>
      </p:sp>
      <p:sp>
        <p:nvSpPr>
          <p:cNvPr id="245" name="Google Shape;245;g3f5f5baf0a6_0_169"/>
          <p:cNvSpPr txBox="1"/>
          <p:nvPr/>
        </p:nvSpPr>
        <p:spPr>
          <a:xfrm>
            <a:off x="997875" y="1360250"/>
            <a:ext cx="25677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case, when the 2:1 arbiter grants a THREAD request for the request line, it occupies the flop until it is accepted by the next 8:1 arbiter.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introduces unnecessary latency because we split the request to their respective flops, and the previous flop should be allocated to the other THREAD for requesting a new cache request.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g3f5f5baf0a6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9150" y="1290000"/>
            <a:ext cx="3776900" cy="25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5f5baf0a6_0_180"/>
          <p:cNvSpPr txBox="1"/>
          <p:nvPr>
            <p:ph type="title"/>
          </p:nvPr>
        </p:nvSpPr>
        <p:spPr>
          <a:xfrm>
            <a:off x="762900" y="521475"/>
            <a:ext cx="76182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/>
              <a:t>FrontEnd Issue 3 - Waiting for the request response in case of request KILL</a:t>
            </a:r>
            <a:endParaRPr sz="2100"/>
          </a:p>
        </p:txBody>
      </p:sp>
      <p:sp>
        <p:nvSpPr>
          <p:cNvPr id="252" name="Google Shape;252;g3f5f5baf0a6_0_180"/>
          <p:cNvSpPr txBox="1"/>
          <p:nvPr/>
        </p:nvSpPr>
        <p:spPr>
          <a:xfrm>
            <a:off x="1546300" y="1360250"/>
            <a:ext cx="5068800" cy="2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Front-End Thread Buffer kills the current request when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6286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INTPIPE provides a new PC address due to branch/jump.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request haven’t yet receveived by the L0 u-cache.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But, Instead of passing an additional Invalidate signal up to the arbiter flops, it first waits for the prior request to get accepted, ignores the granted response, and then issue a new request with the updated PC address.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4e983f5e5_2_61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Esperanto SoC Hierarchy</a:t>
            </a:r>
            <a:endParaRPr/>
          </a:p>
        </p:txBody>
      </p:sp>
      <p:pic>
        <p:nvPicPr>
          <p:cNvPr id="258" name="Google Shape;258;g3f4e983f5e5_2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7950" y="1003625"/>
            <a:ext cx="3648331" cy="383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5f77c2732_0_0"/>
          <p:cNvSpPr txBox="1"/>
          <p:nvPr>
            <p:ph type="title"/>
          </p:nvPr>
        </p:nvSpPr>
        <p:spPr>
          <a:xfrm>
            <a:off x="692925" y="61002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Minion Neighborhood Overview</a:t>
            </a:r>
            <a:endParaRPr/>
          </a:p>
        </p:txBody>
      </p:sp>
      <p:sp>
        <p:nvSpPr>
          <p:cNvPr id="264" name="Google Shape;264;g3f5f77c2732_0_0"/>
          <p:cNvSpPr txBox="1"/>
          <p:nvPr/>
        </p:nvSpPr>
        <p:spPr>
          <a:xfrm>
            <a:off x="1042075" y="1191725"/>
            <a:ext cx="5361900" cy="1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of 8-Minion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 KB shared L1 instruction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Dual shared L0 microcaches and PTW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g3f5f77c273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825" y="2738788"/>
            <a:ext cx="62484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f5f77c273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475" y="2405550"/>
            <a:ext cx="6882875" cy="22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5f5baf0a6_0_84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Overview</a:t>
            </a:r>
            <a:endParaRPr sz="2300"/>
          </a:p>
        </p:txBody>
      </p:sp>
      <p:sp>
        <p:nvSpPr>
          <p:cNvPr id="272" name="Google Shape;272;g3f5f5baf0a6_0_84"/>
          <p:cNvSpPr txBox="1"/>
          <p:nvPr/>
        </p:nvSpPr>
        <p:spPr>
          <a:xfrm>
            <a:off x="1021325" y="1143775"/>
            <a:ext cx="6065400" cy="3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 &amp; Structure: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16-entry, Fully Associative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Addressing: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VIPT (Virtually Indexed, Physically Tagged)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5-stage non-blocking (F0–F4) latency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Instances: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2x L0 Micro-caches per Neighborhood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by 4 Minions (8 Threads)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Bypass Capability: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Supports a bypass path that allows instruction fetches to be serviced directly from the L1 I-Cache without allocating the data into the L0 u-cache.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Software-Controlled Prefetching: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a software-controlled prefetch mechanism capable of preloading up to 64 consecutive cache lines into the L1 I-Cache.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f5baf0a6_0_10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Internal Blocks</a:t>
            </a:r>
            <a:endParaRPr sz="2300"/>
          </a:p>
        </p:txBody>
      </p:sp>
      <p:pic>
        <p:nvPicPr>
          <p:cNvPr id="278" name="Google Shape;278;g3f5f5baf0a6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338" y="915075"/>
            <a:ext cx="3380623" cy="392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f5f5baf0a6_0_10"/>
          <p:cNvSpPr txBox="1"/>
          <p:nvPr/>
        </p:nvSpPr>
        <p:spPr>
          <a:xfrm>
            <a:off x="1101250" y="1185475"/>
            <a:ext cx="3284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iTLB: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16-entry virtual-to-physical address translation cache (2 entries/thread).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µTags: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Stores tags for all 16 L0 Micro-cache entries.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iPMA: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Validates physical address access attributes.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LRU Victim Selector: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Selects replacement way and updates LRU on hits, misses, and L1 fills.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µData: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Stores 16 cache lines, 64 bytes per line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5f5baf0a6_0_16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Five Pipeline Stages</a:t>
            </a:r>
            <a:endParaRPr sz="2300"/>
          </a:p>
        </p:txBody>
      </p:sp>
      <p:sp>
        <p:nvSpPr>
          <p:cNvPr id="285" name="Google Shape;285;g3f5f5baf0a6_0_16"/>
          <p:cNvSpPr txBox="1"/>
          <p:nvPr/>
        </p:nvSpPr>
        <p:spPr>
          <a:xfrm>
            <a:off x="1242975" y="1358850"/>
            <a:ext cx="38430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F0 Stage:  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Arbitration and Request selection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 Stage: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Address Translation (TLB Lookup)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 Stage: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Tag Lookup, PMA check and LRU Update.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F3 Stage: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Data Array access.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F4 Stage: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Response back to Minion.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f5f5baf0a6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2075" y="915063"/>
            <a:ext cx="2271853" cy="39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f0c23a24_0_0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HIT Flow: Cycle 0 Arbitration</a:t>
            </a:r>
            <a:endParaRPr sz="2300"/>
          </a:p>
        </p:txBody>
      </p:sp>
      <p:pic>
        <p:nvPicPr>
          <p:cNvPr id="292" name="Google Shape;292;g3f5f0c23a2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513" y="1075825"/>
            <a:ext cx="5060976" cy="36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f0c23a24_0_5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HIT Flow: Cycle 1 TLB Lookup Up</a:t>
            </a:r>
            <a:endParaRPr sz="2300"/>
          </a:p>
        </p:txBody>
      </p:sp>
      <p:pic>
        <p:nvPicPr>
          <p:cNvPr id="298" name="Google Shape;298;g3f5f0c23a24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924" y="1140125"/>
            <a:ext cx="6018149" cy="35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5f0c23a24_0_10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HIT Flow: Cycle 2 TAG, PMA, LRU </a:t>
            </a:r>
            <a:endParaRPr sz="2300"/>
          </a:p>
        </p:txBody>
      </p:sp>
      <p:pic>
        <p:nvPicPr>
          <p:cNvPr id="304" name="Google Shape;304;g3f5f0c23a24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987" y="1081925"/>
            <a:ext cx="6222024" cy="370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5f0c23a24_0_15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HIT Flow: Cycle 3 Data Access</a:t>
            </a:r>
            <a:endParaRPr sz="2300"/>
          </a:p>
        </p:txBody>
      </p:sp>
      <p:pic>
        <p:nvPicPr>
          <p:cNvPr id="310" name="Google Shape;310;g3f5f0c23a24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0387" y="1081925"/>
            <a:ext cx="6063224" cy="36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f0c23a24_0_20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HIT Flow: Cycle 4 Update Arbiter LRU</a:t>
            </a:r>
            <a:endParaRPr sz="2300"/>
          </a:p>
        </p:txBody>
      </p:sp>
      <p:pic>
        <p:nvPicPr>
          <p:cNvPr id="316" name="Google Shape;316;g3f5f0c23a24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0300" y="1413787"/>
            <a:ext cx="4346000" cy="30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f5f0c23a24_0_20"/>
          <p:cNvSpPr txBox="1"/>
          <p:nvPr/>
        </p:nvSpPr>
        <p:spPr>
          <a:xfrm>
            <a:off x="1142925" y="1218825"/>
            <a:ext cx="2209200" cy="3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“f4_resp” is HIT, then the arbiter updates the LRU policy of that thread.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updation would be made for cache miss response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5f0c23a24_0_26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L0 u-Cache Response Complete Flow: </a:t>
            </a:r>
            <a:endParaRPr sz="2300"/>
          </a:p>
        </p:txBody>
      </p:sp>
      <p:pic>
        <p:nvPicPr>
          <p:cNvPr id="323" name="Google Shape;323;g3f5f0c23a24_0_26" title="Esperanto-L0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00" y="1555688"/>
            <a:ext cx="8373801" cy="20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5f0c23a24_0_31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TLB Miss Handling</a:t>
            </a:r>
            <a:endParaRPr sz="2300"/>
          </a:p>
        </p:txBody>
      </p:sp>
      <p:graphicFrame>
        <p:nvGraphicFramePr>
          <p:cNvPr id="329" name="Google Shape;329;g3f5f0c23a24_0_31"/>
          <p:cNvGraphicFramePr/>
          <p:nvPr/>
        </p:nvGraphicFramePr>
        <p:xfrm>
          <a:off x="835775" y="126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{93ABC6C9-8AE4-4568-BD32-BE72E556F334}</a:tableStyleId>
              </a:tblPr>
              <a:tblGrid>
                <a:gridCol w="1133325"/>
                <a:gridCol w="6484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Cycle</a:t>
                      </a:r>
                      <a:endParaRPr b="1" sz="1300" u="none" cap="none" strike="noStrike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Operation</a:t>
                      </a:r>
                      <a:endParaRPr b="1" sz="1300" u="none" cap="none" strike="noStrike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F0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Arbitration selects the thread request.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F1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TLB lookup. On a miss, a PTW request is generated immediately and </a:t>
                      </a:r>
                      <a:r>
                        <a:rPr b="1" lang="en" sz="1300" u="none" cap="none" strike="noStrike"/>
                        <a:t>tlb_fill_pending</a:t>
                      </a:r>
                      <a:r>
                        <a:rPr lang="en" sz="1300" u="none" cap="none" strike="noStrike"/>
                        <a:t> is asserted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F2 – F3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If </a:t>
                      </a:r>
                      <a:r>
                        <a:rPr b="1" lang="en" sz="1300" u="none" cap="none" strike="noStrike"/>
                        <a:t>tlb_fill_pending</a:t>
                      </a:r>
                      <a:r>
                        <a:rPr lang="en" sz="1300" u="none" cap="none" strike="noStrike"/>
                        <a:t> remains asserted, the miss response continues through the pipeline.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F3 – F4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The requesting thread receives a MISS response and transitions to the sleep state.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330" name="Google Shape;330;g3f5f0c23a24_0_31"/>
          <p:cNvSpPr txBox="1"/>
          <p:nvPr/>
        </p:nvSpPr>
        <p:spPr>
          <a:xfrm>
            <a:off x="1251925" y="3629100"/>
            <a:ext cx="62808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PTW request is issued immediately upon TLB miss.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lookup pipeline is not stalled.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miss response follows the normal 5-stage latency.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requesting thread sleeps after receiving the miss response.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5f0c23a24_0_37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TLB Fill Completion &amp; Thread Wake-up</a:t>
            </a:r>
            <a:endParaRPr sz="2300"/>
          </a:p>
        </p:txBody>
      </p:sp>
      <p:sp>
        <p:nvSpPr>
          <p:cNvPr id="336" name="Google Shape;336;g3f5f0c23a24_0_37"/>
          <p:cNvSpPr txBox="1"/>
          <p:nvPr/>
        </p:nvSpPr>
        <p:spPr>
          <a:xfrm>
            <a:off x="1185225" y="1153225"/>
            <a:ext cx="6280800" cy="29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PTW Response Flow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PTW returns the translated address.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TLB entry is updated.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tlb_fill_pending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cleared.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resp_fill_done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generated.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resp_fill_done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propagates to the 6th stage.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Sleeping threads wake up and retry their requests.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resp_fill_done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intentionally delayed until the 6th stage to prevent overlap between the sleep and wake-up events.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5f0c23a24_0_42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TAG Array Miss Flow</a:t>
            </a:r>
            <a:endParaRPr sz="2300"/>
          </a:p>
        </p:txBody>
      </p:sp>
      <p:graphicFrame>
        <p:nvGraphicFramePr>
          <p:cNvPr id="342" name="Google Shape;342;g3f5f0c23a24_0_42"/>
          <p:cNvGraphicFramePr/>
          <p:nvPr/>
        </p:nvGraphicFramePr>
        <p:xfrm>
          <a:off x="827450" y="152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{93ABC6C9-8AE4-4568-BD32-BE72E556F334}</a:tableStyleId>
              </a:tblPr>
              <a:tblGrid>
                <a:gridCol w="1441775"/>
                <a:gridCol w="6176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Cycle</a:t>
                      </a:r>
                      <a:endParaRPr b="1" sz="1300" u="none" cap="none" strike="noStrike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Operation</a:t>
                      </a:r>
                      <a:endParaRPr b="1" sz="1300" u="none" cap="none" strike="noStrike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F0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Arbitration 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F1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TLB lookup (Hit)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F2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Tag Array lookup (Miss) and L1 I-Cache request generated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F3 – F4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	Miss response propagates through the pipeline.  Requesting thread receives MISS response and enters sleep. 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343" name="Google Shape;343;g3f5f0c23a24_0_42"/>
          <p:cNvSpPr txBox="1"/>
          <p:nvPr/>
        </p:nvSpPr>
        <p:spPr>
          <a:xfrm>
            <a:off x="1251925" y="3629100"/>
            <a:ext cx="62808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5f0c23a24_0_48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L1 I-Cache response &amp; Thread Wake-up</a:t>
            </a:r>
            <a:endParaRPr sz="2300"/>
          </a:p>
        </p:txBody>
      </p:sp>
      <p:sp>
        <p:nvSpPr>
          <p:cNvPr id="349" name="Google Shape;349;g3f5f0c23a24_0_48"/>
          <p:cNvSpPr txBox="1"/>
          <p:nvPr/>
        </p:nvSpPr>
        <p:spPr>
          <a:xfrm>
            <a:off x="1185225" y="1153225"/>
            <a:ext cx="6901800" cy="3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I-Cache Response Flow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L1 I-Cache returns the requested cache line.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Array and Data Array are updated.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resp_fill_done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generated and propagated to the 6th stage.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Sleeping threads wake up and retry and again go to sleep if the repsonse fill is not relevant to that thread.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resp_fill_done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l0_cache_response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common for all 8 threads.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normal response (resp) is also observed by all threads, with each thread acting only on the response intended for it.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5f0c23a24_0_53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Live-Lock Timing Diagram</a:t>
            </a:r>
            <a:endParaRPr sz="2300"/>
          </a:p>
        </p:txBody>
      </p:sp>
      <p:pic>
        <p:nvPicPr>
          <p:cNvPr id="355" name="Google Shape;355;g3f5f0c23a24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100" y="1325925"/>
            <a:ext cx="7904950" cy="238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5f0c23a24_0_58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Software Pre-Fetch Mechanism</a:t>
            </a:r>
            <a:endParaRPr sz="2300"/>
          </a:p>
        </p:txBody>
      </p:sp>
      <p:sp>
        <p:nvSpPr>
          <p:cNvPr id="361" name="Google Shape;361;g3f5f0c23a24_0_58"/>
          <p:cNvSpPr txBox="1"/>
          <p:nvPr/>
        </p:nvSpPr>
        <p:spPr>
          <a:xfrm>
            <a:off x="1185225" y="1153225"/>
            <a:ext cx="6901800" cy="3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NORTH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L0 micro-cache includes a software-controlled prefetch engine.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Prefetch requests target the L1 I-Cache.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single prefetch operation can fetch up to 64 consecutive cache lines.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Prefetching begins when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esr_prefetch_start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signal is asserted.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new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esr_prefetch_start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request arrives while a previous prefetch sequence is still active, then the current prefetch operation is aborted, and the FSM immediately starts the new prefetch sequence.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 the prefetch all requests would intentionally get missed, and the L1 I-cache response would not be cached.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5f0c23a24_0_63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Software Pre-Fetch FSM</a:t>
            </a:r>
            <a:endParaRPr sz="2300"/>
          </a:p>
        </p:txBody>
      </p:sp>
      <p:graphicFrame>
        <p:nvGraphicFramePr>
          <p:cNvPr id="367" name="Google Shape;367;g3f5f0c23a24_0_63"/>
          <p:cNvGraphicFramePr/>
          <p:nvPr/>
        </p:nvGraphicFramePr>
        <p:xfrm>
          <a:off x="795700" y="139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{93ABC6C9-8AE4-4568-BD32-BE72E556F334}</a:tableStyleId>
              </a:tblPr>
              <a:tblGrid>
                <a:gridCol w="1798975"/>
                <a:gridCol w="5819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State</a:t>
                      </a:r>
                      <a:endParaRPr b="1" sz="1300" u="none" cap="none" strike="noStrike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Operation</a:t>
                      </a:r>
                      <a:endParaRPr b="1" sz="1300" u="none" cap="none" strike="noStrike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IDLE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Waiting for esr_prefetch_start. 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REQUEST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	Generates the next prefetch request when no thread request is pending.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CHECK_HIT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TLB LookUp to obtain the Physical address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FILL_WAIT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Waiting for the L1 I-Cache to return </a:t>
                      </a:r>
                      <a:r>
                        <a:rPr b="1" lang="en" sz="1300" u="none" cap="none" strike="noStrike"/>
                        <a:t>resp_valid</a:t>
                      </a:r>
                      <a:r>
                        <a:rPr lang="en" sz="1300" u="none" cap="none" strike="noStrike"/>
                        <a:t> 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FILLDONE_WAIT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Waiting for </a:t>
                      </a:r>
                      <a:r>
                        <a:rPr b="1" lang="en" sz="1300" u="none" cap="none" strike="noStrike"/>
                        <a:t>resp_fill_done</a:t>
                      </a:r>
                      <a:r>
                        <a:rPr lang="en" sz="1300" u="none" cap="none" strike="noStrike"/>
                        <a:t> before issuing the next prefetch.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PREREQ_PAUSE</a:t>
                      </a:r>
                      <a:endParaRPr b="1" sz="1300" u="none" cap="none" strike="noStrike"/>
                    </a:p>
                  </a:txBody>
                  <a:tcPr marT="45700" marB="45700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Waits for 8 cycles before issuing the next prefetch request.</a:t>
                      </a:r>
                      <a:endParaRPr sz="1300" u="none" cap="none" strike="noStrike"/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5f0c23a24_0_68"/>
          <p:cNvSpPr txBox="1"/>
          <p:nvPr>
            <p:ph type="title"/>
          </p:nvPr>
        </p:nvSpPr>
        <p:spPr>
          <a:xfrm>
            <a:off x="762900" y="521475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Software Pre-Fetch FSM</a:t>
            </a:r>
            <a:endParaRPr sz="2300"/>
          </a:p>
        </p:txBody>
      </p:sp>
      <p:pic>
        <p:nvPicPr>
          <p:cNvPr id="373" name="Google Shape;373;g3f5f0c23a24_0_68" title="Esperanto-Prefetch_FSM_Anim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850" y="990525"/>
            <a:ext cx="4924426" cy="36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